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7723F-B53F-1F2E-FEB7-19DED60CE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22437-15E6-73F5-CA0C-7A06BC7A8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A2AA8-774B-3A52-EAFC-1BE94A35A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7A392-C43E-40FE-99AD-722C7C2252FE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388A2-F0B3-ABFE-A919-2FF78785A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B9A4A-4AEE-5C4A-0F6D-11288E0BB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3A8B-7E89-41DB-9BD2-D108F1BBD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33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AABD8-9245-B70B-D89B-B91A9A192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71269-9DC4-0A24-6A4D-C86351DF5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C7083-E9AA-F8E1-D05E-140E034AA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7A392-C43E-40FE-99AD-722C7C2252FE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81EB3-BBD9-2FB0-8D19-FAE560899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DFA0C-43E7-6AA5-203D-65AC192F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3A8B-7E89-41DB-9BD2-D108F1BBD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409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4C41F-93CA-10A1-A1C3-290A75C77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F5DF4-8A83-27DF-ED90-CD4F62EB6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A7D44-4650-6515-2EF6-D44D3CEDE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7A392-C43E-40FE-99AD-722C7C2252FE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AFA2E-5495-638B-2DBA-DEFF74884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164CE-1379-3085-5427-18840BD5D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3A8B-7E89-41DB-9BD2-D108F1BBD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809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7D0EC-8AC0-9FDA-62CF-ECE0B901C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BC830-39B3-CD12-2B48-43195731C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963E1-B334-6C4C-BBF3-F0928A07C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54753-CFA3-F803-85D5-B0FD73229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7A392-C43E-40FE-99AD-722C7C2252FE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A8688-5913-CA6E-EBC7-3AC8EC61F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C46C9-7132-4340-9619-7F13C0CCC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3A8B-7E89-41DB-9BD2-D108F1BBD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534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C167A-3858-B23B-8CB6-ACD970C0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91005-E003-9BCD-9B7B-49380ECE1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5DC8E-E9F9-3905-9D46-D5463F4F0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28BE62-95BA-900B-76DF-F17D1E5B4F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CFF5E0-AB6F-F422-07F2-5E71D32B59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1B4679-AF6A-AA7F-176F-B3EDE2055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7A392-C43E-40FE-99AD-722C7C2252FE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E1D77-C422-1333-50F8-D4FBB295D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A5AD76-2B23-1881-AE83-13DE1031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3A8B-7E89-41DB-9BD2-D108F1BBD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288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7295F-5CC6-CF86-7FCB-A389C0E29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043B8C-11DB-7D31-44F7-BF2E917FA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7A392-C43E-40FE-99AD-722C7C2252FE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B792D5-9E53-303D-E1B2-27E7052E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201C7-471A-C790-08F9-5AC382CB8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3A8B-7E89-41DB-9BD2-D108F1BBD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73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F1ED3B-792C-3BD3-42C5-6205F2F33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7A392-C43E-40FE-99AD-722C7C2252FE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51647F-18C6-8AD0-7FAC-F9D9CA6BD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A3EE4-226E-9767-8BCD-0A7775A25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3A8B-7E89-41DB-9BD2-D108F1BBD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248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AB7EA-59D1-D5CD-6946-0C08B27AD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43612-11AF-B6D1-5765-BC19FF996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2510B-6277-C6C7-BCAC-578D01A9A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6C5F5-E3F7-B834-3437-B003AEFD2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7A392-C43E-40FE-99AD-722C7C2252FE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036CD-7901-4B0C-4A3C-3D2EC2432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6553C-5A00-C804-705D-874B0B81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3A8B-7E89-41DB-9BD2-D108F1BBD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430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BEF40-077F-D1A2-6CA4-E1CA3343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063C17-4833-5821-3CEA-0BDAFE6D0E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2226A-3DDB-C60C-DEC1-AED05E3FE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4888E-63D5-4955-EEC7-893CA193A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7A392-C43E-40FE-99AD-722C7C2252FE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3092C-49A2-C67B-772F-33E252B4C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7788A-2E57-E09B-428F-2014081A5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3A8B-7E89-41DB-9BD2-D108F1BBD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22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88BF3-5A52-D449-416B-83D29FED8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D0EA8-62CA-DCF6-3A43-5BB5A0464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7DD33-4425-81D8-EE73-310C2299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7A392-C43E-40FE-99AD-722C7C2252FE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6A238-9CEA-F1F7-9E5B-0B0D42DA3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22357-8AFC-7670-0B86-862A23385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3A8B-7E89-41DB-9BD2-D108F1BBD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849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ECE0ED-89C1-5E9F-C33A-0B36639572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22DD6-1D53-6376-0B4C-3DF8EEF19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0CC55-6AD7-8BE8-7FF4-8ABA41C4B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7A392-C43E-40FE-99AD-722C7C2252FE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E061A-11D7-02D5-786A-CD0712AC5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5C611-3DCC-6974-1A13-F77073407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3A8B-7E89-41DB-9BD2-D108F1BBD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341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A9CC11-3750-8F77-8DD8-3C1B49D4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93952-ADC4-E4D2-3C9A-68F98330E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C315A-D0C7-C433-2069-A55DDA2062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37A392-C43E-40FE-99AD-722C7C2252FE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87309-CF63-FC6B-B6FE-B779E4CA9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224BB-C345-CA30-FF08-93C7EB74F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6B3A8B-7E89-41DB-9BD2-D108F1BBD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820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0A9E5-A430-1070-BDDB-A293FCEEF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3047" y="3770013"/>
            <a:ext cx="8996737" cy="2387600"/>
          </a:xfrm>
        </p:spPr>
        <p:txBody>
          <a:bodyPr/>
          <a:lstStyle/>
          <a:p>
            <a:r>
              <a:rPr lang="en-US" dirty="0"/>
              <a:t>Datastores and Data assets in Azure ML</a:t>
            </a:r>
            <a:endParaRPr lang="en-IN" dirty="0"/>
          </a:p>
        </p:txBody>
      </p:sp>
      <p:pic>
        <p:nvPicPr>
          <p:cNvPr id="4" name="Picture 3" descr="Azure Machine Learning - Visual Studio Marketplace">
            <a:extLst>
              <a:ext uri="{FF2B5EF4-FFF2-40B4-BE49-F238E27FC236}">
                <a16:creationId xmlns:a16="http://schemas.microsoft.com/office/drawing/2014/main" id="{8F3E01B7-B0C0-5971-F3E4-528EF9C45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838" y="868768"/>
            <a:ext cx="2696324" cy="2901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8349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108B1-3B53-4322-D9E5-FFDD6DBE3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748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is a Datastore?</a:t>
            </a:r>
            <a:endParaRPr lang="en-IN" dirty="0"/>
          </a:p>
        </p:txBody>
      </p:sp>
      <p:pic>
        <p:nvPicPr>
          <p:cNvPr id="2050" name="Picture 2" descr="Diagram of two different authentication methods Azure Machine Learning datastores use to connect to external data sources.">
            <a:extLst>
              <a:ext uri="{FF2B5EF4-FFF2-40B4-BE49-F238E27FC236}">
                <a16:creationId xmlns:a16="http://schemas.microsoft.com/office/drawing/2014/main" id="{37A95329-EBA4-9FA9-D85A-CFD7694501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734" y="1471684"/>
            <a:ext cx="4633254" cy="483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5BB972-1B9A-FE76-5B88-E77391CD040A}"/>
              </a:ext>
            </a:extLst>
          </p:cNvPr>
          <p:cNvSpPr txBox="1"/>
          <p:nvPr/>
        </p:nvSpPr>
        <p:spPr>
          <a:xfrm>
            <a:off x="336012" y="4907189"/>
            <a:ext cx="60977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Azure Machine Learning supports the creation of datastores for multiple kinds of Azure data source, including:</a:t>
            </a:r>
          </a:p>
          <a:p>
            <a:endParaRPr lang="en-US" dirty="0"/>
          </a:p>
          <a:p>
            <a:r>
              <a:rPr lang="en-US" b="1" dirty="0"/>
              <a:t>Azure Blob Storage</a:t>
            </a:r>
          </a:p>
          <a:p>
            <a:r>
              <a:rPr lang="en-US" b="1" dirty="0"/>
              <a:t>Azure File Share</a:t>
            </a:r>
          </a:p>
          <a:p>
            <a:r>
              <a:rPr lang="en-US" b="1" dirty="0"/>
              <a:t>Azure Data Lake (Gen 2)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7094CD-C001-B1DD-7054-3B5D6EA5FCCE}"/>
              </a:ext>
            </a:extLst>
          </p:cNvPr>
          <p:cNvSpPr txBox="1"/>
          <p:nvPr/>
        </p:nvSpPr>
        <p:spPr>
          <a:xfrm>
            <a:off x="336012" y="1010019"/>
            <a:ext cx="60977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They </a:t>
            </a:r>
            <a:r>
              <a:rPr lang="en-US" b="1" dirty="0"/>
              <a:t>encapsulate the information </a:t>
            </a:r>
            <a:r>
              <a:rPr lang="en-US" dirty="0"/>
              <a:t>needed to </a:t>
            </a:r>
            <a:r>
              <a:rPr lang="en-US" b="1" dirty="0"/>
              <a:t>connect</a:t>
            </a:r>
            <a:r>
              <a:rPr lang="en-US" dirty="0"/>
              <a:t> to data sources and securely store this connection information so that </a:t>
            </a:r>
            <a:r>
              <a:rPr lang="en-US" b="1" dirty="0"/>
              <a:t>you don’t have to code it in your scripts.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505AD6-E0C0-4FD4-444F-30FBEC2524E4}"/>
              </a:ext>
            </a:extLst>
          </p:cNvPr>
          <p:cNvSpPr txBox="1"/>
          <p:nvPr/>
        </p:nvSpPr>
        <p:spPr>
          <a:xfrm>
            <a:off x="336012" y="2413337"/>
            <a:ext cx="60977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benefits of using datastores are:</a:t>
            </a:r>
          </a:p>
          <a:p>
            <a:endParaRPr lang="en-US" dirty="0"/>
          </a:p>
          <a:p>
            <a:r>
              <a:rPr lang="en-US" dirty="0"/>
              <a:t>1) Provides </a:t>
            </a:r>
            <a:r>
              <a:rPr lang="en-US" b="1" dirty="0"/>
              <a:t>easy-to-use URIs </a:t>
            </a:r>
            <a:r>
              <a:rPr lang="en-US" dirty="0"/>
              <a:t>to your data storage.</a:t>
            </a:r>
          </a:p>
          <a:p>
            <a:r>
              <a:rPr lang="en-US" dirty="0"/>
              <a:t>2) Facilitates </a:t>
            </a:r>
            <a:r>
              <a:rPr lang="en-US" b="1" dirty="0"/>
              <a:t>data discovery </a:t>
            </a:r>
            <a:r>
              <a:rPr lang="en-US" dirty="0"/>
              <a:t>within Azure Machine Learning.</a:t>
            </a:r>
          </a:p>
          <a:p>
            <a:r>
              <a:rPr lang="en-US" dirty="0"/>
              <a:t>3) Securely stores </a:t>
            </a:r>
            <a:r>
              <a:rPr lang="en-US" b="1" dirty="0"/>
              <a:t>connection information</a:t>
            </a:r>
            <a:r>
              <a:rPr lang="en-US" dirty="0"/>
              <a:t>, without exposing </a:t>
            </a:r>
            <a:r>
              <a:rPr lang="en-US" b="1" dirty="0"/>
              <a:t>secrets and keys </a:t>
            </a:r>
            <a:r>
              <a:rPr lang="en-US" dirty="0"/>
              <a:t>to data scientists.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8813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5C86-06F5-22FA-70FE-29ADD08C4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885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Understand URIs</a:t>
            </a:r>
            <a:endParaRPr lang="en-IN" dirty="0"/>
          </a:p>
        </p:txBody>
      </p:sp>
      <p:pic>
        <p:nvPicPr>
          <p:cNvPr id="1026" name="Picture 2" descr="Diagram of different types of protocols that Azure Machine Learning uses to connect to external data sources.">
            <a:extLst>
              <a:ext uri="{FF2B5EF4-FFF2-40B4-BE49-F238E27FC236}">
                <a16:creationId xmlns:a16="http://schemas.microsoft.com/office/drawing/2014/main" id="{8445CAFA-8467-3510-62BF-32775033CA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153" y="1682939"/>
            <a:ext cx="5209800" cy="3854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2F6FA8-7594-EAE0-F5C6-51A052060830}"/>
              </a:ext>
            </a:extLst>
          </p:cNvPr>
          <p:cNvSpPr txBox="1"/>
          <p:nvPr/>
        </p:nvSpPr>
        <p:spPr>
          <a:xfrm>
            <a:off x="339047" y="1682939"/>
            <a:ext cx="60977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Wherever you store your data, you want to access the data when training machine learning models.</a:t>
            </a:r>
            <a:r>
              <a:rPr lang="en-US" b="1" i="1" dirty="0"/>
              <a:t> </a:t>
            </a:r>
            <a:r>
              <a:rPr lang="en-US" b="1" dirty="0"/>
              <a:t>To find and access data in Azure Machine Learning, you can use Uniform Resource Identifiers (URIs).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8E884F-6DF3-2F11-83DF-8472AA39DCE7}"/>
              </a:ext>
            </a:extLst>
          </p:cNvPr>
          <p:cNvSpPr txBox="1"/>
          <p:nvPr/>
        </p:nvSpPr>
        <p:spPr>
          <a:xfrm>
            <a:off x="339047" y="3813862"/>
            <a:ext cx="60977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http(s): </a:t>
            </a:r>
            <a:r>
              <a:rPr lang="en-US" dirty="0"/>
              <a:t>Use for data stores publicly or privately in an Azure Blob Storage or publicly available http(s) location.</a:t>
            </a:r>
          </a:p>
          <a:p>
            <a:endParaRPr lang="en-US" dirty="0"/>
          </a:p>
          <a:p>
            <a:r>
              <a:rPr lang="en-US" b="1" dirty="0" err="1"/>
              <a:t>abfs</a:t>
            </a:r>
            <a:r>
              <a:rPr lang="en-US" b="1" dirty="0"/>
              <a:t>(s): </a:t>
            </a:r>
            <a:r>
              <a:rPr lang="en-US" dirty="0"/>
              <a:t>Use for data stores in an Azure Data Lake Storage Gen 2.</a:t>
            </a:r>
          </a:p>
          <a:p>
            <a:endParaRPr lang="en-US" dirty="0"/>
          </a:p>
          <a:p>
            <a:r>
              <a:rPr lang="en-US" b="1" dirty="0" err="1"/>
              <a:t>azureml</a:t>
            </a:r>
            <a:r>
              <a:rPr lang="en-US" dirty="0"/>
              <a:t>: Use for data stored in a datastore.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7021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D4407-CFE8-912F-A1A4-174F1CB10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548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is a Data Asset?</a:t>
            </a:r>
            <a:endParaRPr lang="en-IN" dirty="0"/>
          </a:p>
        </p:txBody>
      </p:sp>
      <p:pic>
        <p:nvPicPr>
          <p:cNvPr id="3074" name="Picture 2" descr="Diagram of different types of data assets in Azure Machine Learning.">
            <a:extLst>
              <a:ext uri="{FF2B5EF4-FFF2-40B4-BE49-F238E27FC236}">
                <a16:creationId xmlns:a16="http://schemas.microsoft.com/office/drawing/2014/main" id="{01EBC52E-1F32-9B7E-523C-52CC8AD879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289" y="1611038"/>
            <a:ext cx="5306684" cy="317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6498C1-D1B9-987D-2E7B-5E9564FF048D}"/>
              </a:ext>
            </a:extLst>
          </p:cNvPr>
          <p:cNvSpPr txBox="1"/>
          <p:nvPr/>
        </p:nvSpPr>
        <p:spPr>
          <a:xfrm>
            <a:off x="361225" y="741622"/>
            <a:ext cx="60977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a Data Asset in Azure ML?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Data Asset</a:t>
            </a:r>
            <a:r>
              <a:rPr lang="en-US" dirty="0"/>
              <a:t> is a </a:t>
            </a:r>
            <a:r>
              <a:rPr lang="en-US" b="1" dirty="0"/>
              <a:t>versioned reference to data</a:t>
            </a:r>
            <a:r>
              <a:rPr lang="en-US" dirty="0"/>
              <a:t> used in machine learning workflows.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enables </a:t>
            </a:r>
            <a:r>
              <a:rPr lang="en-US" b="1" dirty="0"/>
              <a:t>consistent access to datasets</a:t>
            </a:r>
            <a:r>
              <a:rPr lang="en-US" dirty="0"/>
              <a:t> across experiments, training jobs, and pipelines.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Instead of directly referencing storage paths, ML workflows reference </a:t>
            </a:r>
            <a:r>
              <a:rPr lang="en-US" b="1" dirty="0"/>
              <a:t>registered data assets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4A31C5-BBFA-B321-E55A-36209054DF64}"/>
              </a:ext>
            </a:extLst>
          </p:cNvPr>
          <p:cNvSpPr txBox="1"/>
          <p:nvPr/>
        </p:nvSpPr>
        <p:spPr>
          <a:xfrm>
            <a:off x="361225" y="4274050"/>
            <a:ext cx="60977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Types of Data Assets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URI File</a:t>
            </a:r>
            <a:r>
              <a:rPr lang="en-US" dirty="0"/>
              <a:t> – References a </a:t>
            </a:r>
            <a:r>
              <a:rPr lang="en-US" b="1" dirty="0"/>
              <a:t>single file</a:t>
            </a:r>
            <a:r>
              <a:rPr lang="en-US" dirty="0"/>
              <a:t> in storage.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URI Folder</a:t>
            </a:r>
            <a:r>
              <a:rPr lang="en-US" dirty="0"/>
              <a:t> – References a </a:t>
            </a:r>
            <a:r>
              <a:rPr lang="en-US" b="1" dirty="0"/>
              <a:t>directory of files</a:t>
            </a:r>
            <a:r>
              <a:rPr lang="en-US" dirty="0"/>
              <a:t> (for example images or documents).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MLTable</a:t>
            </a:r>
            <a:r>
              <a:rPr lang="en-US" dirty="0"/>
              <a:t> – Structured dataset with </a:t>
            </a:r>
            <a:r>
              <a:rPr lang="en-US" b="1" dirty="0"/>
              <a:t>schema and metadata</a:t>
            </a:r>
            <a:r>
              <a:rPr lang="en-US" dirty="0"/>
              <a:t>, optimized for ML workloads.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8E3399-36AB-6DD8-B34D-0D6C9FA21461}"/>
              </a:ext>
            </a:extLst>
          </p:cNvPr>
          <p:cNvSpPr txBox="1"/>
          <p:nvPr/>
        </p:nvSpPr>
        <p:spPr>
          <a:xfrm>
            <a:off x="7136685" y="5104144"/>
            <a:ext cx="48982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Enables </a:t>
            </a:r>
            <a:r>
              <a:rPr lang="en-US" b="1" dirty="0"/>
              <a:t>versioning, lineage tracking, and reusable data references</a:t>
            </a:r>
            <a:r>
              <a:rPr lang="en-US" dirty="0"/>
              <a:t> across Azure ML workflows.</a:t>
            </a:r>
          </a:p>
        </p:txBody>
      </p:sp>
    </p:spTree>
    <p:extLst>
      <p:ext uri="{BB962C8B-B14F-4D97-AF65-F5344CB8AC3E}">
        <p14:creationId xmlns:p14="http://schemas.microsoft.com/office/powerpoint/2010/main" val="2332068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97E131-68B4-2AEE-8098-71F5EDC560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2353" y="439220"/>
            <a:ext cx="9567294" cy="597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819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88DB97-FC29-25D8-62BE-99CEE4F473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6493" y="503434"/>
            <a:ext cx="8979013" cy="561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507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322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Datastores and Data assets in Azure ML</vt:lpstr>
      <vt:lpstr>What is a Datastore?</vt:lpstr>
      <vt:lpstr>Understand URIs</vt:lpstr>
      <vt:lpstr>What is a Data Asset?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2026-03-07T08:19:01Z</dcterms:created>
  <dcterms:modified xsi:type="dcterms:W3CDTF">2026-03-07T08:29:48Z</dcterms:modified>
</cp:coreProperties>
</file>